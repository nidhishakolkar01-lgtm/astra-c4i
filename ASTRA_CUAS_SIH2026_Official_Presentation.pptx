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10360152" cy="5303520"/>
          </a:xfrm>
          <a:prstGeom prst="roundRect">
            <a:avLst>
              <a:gd name="adj" fmla="val 3448"/>
            </a:avLst>
          </a:prstGeom>
          <a:solidFill>
            <a:srgbClr val="131E35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| SOFTWARE EDITION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9445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ASTRA-CUAS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AI-Enabled Drone &amp; Counter-Drone Threat Simulation Trainer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023360" y="3017520"/>
            <a:ext cx="4114800" cy="41148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 26247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3657600"/>
            <a:ext cx="8531352" cy="1280160"/>
          </a:xfrm>
          <a:prstGeom prst="rect">
            <a:avLst/>
          </a:prstGeom>
          <a:solidFill>
            <a:srgbClr val="0A11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79476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Organization: </a:t>
            </a:r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Defence (MoD)
</a:t>
            </a:r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</a:t>
            </a:r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Services Staff College (DSSC), Wellington
</a:t>
            </a:r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/ Theme: </a:t>
            </a:r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| Robotics and Drones | Counter-UAS Tactical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52120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Desktop (.exe) • WebXR 360° VR • Autonomous Swarm AI • Multi-Spectral Sensor Fusion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BACKGROUND &amp; PROBLEM DEFINITION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Asymmetric Battlefield Realities vs Traditional Training Limitations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131E35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MODERN DRONE THREAT (UKRAINE / ARMENIA / RED SEA)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Asymmetric Cost Ratio: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 commercial FPV drones destroying $5M armoured vehicles and command outposts.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Swarm &amp; Saturation Tactics: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 coordinated multi-axis incursions overwhelming conventional single-target radar systems.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Radar Cross Section (RCS):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Carbon-fiber airframes (RCS &lt; 0.005 m²) navigating Nap-of-the-Earth (NOE) valleys to exploit radar shadow zones.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Electronic Warfare Hardening: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Fiber-optic tethered control and autonomous visual inertial odometry resisting RF jamming.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MILITARY TRAINING BOTTLENECKS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Prohibitive Financial Cost: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Live-fire anti-drone drills consume tens of thousands of dollars in specialized munitions and target drones per session.
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 &amp; Range Restrictions: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ranges require clear daylight, large safety corridors, and calm winds; zero night or blizzard practice.
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Inadequate Cognitive Repetition: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Troops get only 2-3 live engagements per year. Muscle memory and rapid threat classification degrade quickly.
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Rote Learning / Fixed Scenarios: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slide decks lack procedural variability; soldiers cannot train against dynamic adaptive swarm AI.
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ASTRA-CUAS PROPOSED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Software-Based Simulation Platform Usable at Unit-Level on Standard Hardware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291840" cy="4663440"/>
          </a:xfrm>
          <a:prstGeom prst="roundRect">
            <a:avLst>
              <a:gd name="adj" fmla="val 4167"/>
            </a:avLst>
          </a:prstGeom>
          <a:solidFill>
            <a:srgbClr val="131E35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MULTI-SPECTRAL SENSOR SUITE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 PPI Pulse Doppler Radar with RCS calculations and range-azimuth sweeps
• RF Waterfall Spectrogram (400MHz-5.8GHz) detecting control uplinks &amp; video downlinks
• EO/IR FLIR Thermal Optics with White-Hot, Black-Hot, Ironbow &amp; NVG shaders
• Triangulated Acoustic Direction Finding for low-altitude blind-spot tracking
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291840" cy="4663440"/>
          </a:xfrm>
          <a:prstGeom prst="roundRect">
            <a:avLst>
              <a:gd name="adj" fmla="val 4167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LAYERED C-UAS ARSENAL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19456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30mm CIWS Gatling Cannon firing tungsten AHEAD airburst shrapnel pellets
• 10kW High-Energy Laser DEW for silent thermal structural burn-through
• Directional RF Jammer severing C2 radio telemetry and video downlinks
• GNSS Coordinate Spoofer drifting drones away from high-value target assets
• High-Power Microwave (HPM) wide-angle EMP disabling swarm electronics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291840" cy="4663440"/>
          </a:xfrm>
          <a:prstGeom prst="roundRect">
            <a:avLst>
              <a:gd name="adj" fmla="val 4167"/>
            </a:avLst>
          </a:prstGeom>
          <a:solidFill>
            <a:srgbClr val="131E3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EVALUATION &amp; AAR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29260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DSSC 1000-Point Decision-Tree scoring speed, identification and proportionality
• Millisecond-accurate Tactical Event Timeline recording every operator decision
• Instructor-Trainee Dual Console for live jamming and decoy injection over LAN
• Directing Staff AI Mentor (Gemini 2.5 Flash + offline heuristic engine)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Air-Gapped Capable Architecture with Zero Specialized Hardware Dependency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131E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002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GRAPHICS, RENDERING &amp; SIMULATION FRONTEND (THREE.JS + REACT 18 + WEBXR)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4.5km² PBR Mountain Heightfields • Instanced Conifer Forests (650+ trees @ 60 FPS) • PBR Normal/Roughness Shaders • WebXR 360° Immersive VR Support • ACES Filmic Tone Mapping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3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63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SIMULATION &amp; THREAT AI ENGINES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Red-Team AI: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NOE terrain-masking (20-35m AGL), reactive corkscrew jinking, and Reynolds Boids flocking.
</a:t>
            </a:r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Sensor Fusion Engine: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radar cross-section calculation, RF modulation spectrum, and thermal emission signatures.
</a:t>
            </a:r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Directing Staff AI Mentor: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 API with deterministic offline rule-based fallback for air-gapped bases.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3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063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EVALUATION, NETWORKING &amp; AUDIO SYSTEMS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DSSC Decision-Tree Scoring: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1000-point algorithm evaluating detection time, classification accuracy, ROE compliance, and collateral risk.
</a:t>
            </a:r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Dual-Terminal Instructor Sync: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WebSocket / BroadcastChannel enabling commanding officers to inject EW surprise jamming over LAN.
</a:t>
            </a:r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Military Synthetic Voice Comms: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synthesis with bandpass squelch filter and tactical radio chime sound design.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07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TARGET: AIR-GAPPED STANDALONE WINDOWS EXECUTABLE (.EXE)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Packaged with Electron 29 &amp; NSIS installer. Zero internet connection required. Runs smoothly at 60 FPS on standard defence military laptops (Intel i5/i7 or AMD Ryzen with integrated/discrete GPU).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RED-TEAM THREAT AI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Procedurally Generated, Adversarial &amp; Adaptive Threat Behaviors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468880" cy="4663440"/>
          </a:xfrm>
          <a:prstGeom prst="roundRect">
            <a:avLst>
              <a:gd name="adj" fmla="val 5556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45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NAP-OF-THE-EARTH (NOE) TERRAIN MASKING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 dynamically compute mountain heightmaps and hug ground contours at 20-35m AGL, flying inside valley shadows to break direct radar Line-of-Sight until within 800m of the target FOB.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468880" cy="4663440"/>
          </a:xfrm>
          <a:prstGeom prst="roundRect">
            <a:avLst>
              <a:gd name="adj" fmla="val 5556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645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COORDINATED BOIDS SWARM CONVERGENCE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237744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Swarms execute Craig Reynolds flocking algorithm (Cohesion, Separation, Alignment). If the lead drone is destroyed, the swarm instantly re-elects a flight leader and splits into multi-axis pincer attack vectors.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468880" cy="4663440"/>
          </a:xfrm>
          <a:prstGeom prst="roundRect">
            <a:avLst>
              <a:gd name="adj" fmla="val 5556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45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HIGH-G EVASIVE CORKSCREW JINKING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Upon detecting optical laser lock-on or CIWS radar track initiation, loitering munitions execute chaotic spiral maneuvers (up to 4.5G lateral acceleration) to disrupt ballistic intercept calculation.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4663440"/>
          </a:xfrm>
          <a:prstGeom prst="roundRect">
            <a:avLst>
              <a:gd name="adj" fmla="val 5556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45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MOTHER-SHIP DAUGHTER DEPLOYMENT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98280" y="237744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carrier hexacopters hold standoff positions 1800m away, deploying multiple sub-250g FPV daughter kamikaze drones simultaneously to saturate the base air defense CIWS magazine capacity.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DSSC DECISION-TREE SCORING &amp; AFTER-ACTION REVIEW (AAR)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1000-Point Quantitative Tactical Competency Evaluation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31E35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DSSC 1000-POINT SCORING RUBRIC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Early Detection Speed (Max 250 Pts)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Awarded for detecting low-RCS targets beyond 1200m using radar or RF spectrogram sweeps.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Threat Classification Accuracy (Max 250 Pts)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identifying drone category and payload (e.g. discriminating FPV from Decoy).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Proportional Engagement &amp; ROE (Max 300 Pts)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optimal countermeasure (e.g. RF Jammer for commercial C2; Laser for loitering munitions; CIWS for swarms).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Collateral &amp; Base Protection (Max 200 Pts)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explosive impact inside 100m FOB perimeter and avoiding friendly airspace violations.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Violations &amp; Penalties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-150 Pts for shooting friendly decoys; -100 Pts for weapon overheating / magazine exhaustion.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31E3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AAR STUDIO &amp; UNIT ANALYTICS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Granular Millisecond Telemetry: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timestamped logs of every sensor switch, radar lock, frequency hop, and trigger pull.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 Trajectory Replay: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interception geometry from third-person perspective to analyze missile/shell lead-angle errors.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Cohort &amp; Unit Readiness Tracking: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platoon-level reaction times over 100+ simulated engagements to spot training plateaus.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Formal Military Debrief Dossiers: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1-click export of DSSC tactical debrief reports in PDF, CSV, and encrypted JSON formats.
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INNOVATIONS &amp; STRATEGIC DIFFERENTIATION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ASTRA-CUAS Surpasses Traditional Defence Simulators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E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 Matrix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Traditional Defence Trainers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ASTRA-CUAS Platform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Footprint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 CAVOK domes / custom hydraulic cockpits ($200K+)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on standard defence laptops (Zero specialized hardware)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Generation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Rigid pre-recorded scripted paths (causes rote learning)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Procedural Red-Team AI with Boids Swarms &amp; NOE masking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Simulation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only or simplified 2D radar blips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Multi-Spectral: 3D PPI Radar, RF Waterfall, EO/IR, Acoustic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Architecture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internet cloud server connections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Air-Gapped Standalone .exe + Offline Dual-Terminal 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Immersive Headset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proprietary VR SDKs and external tracker stations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WebXR 360° VR for Meta Quest / HTC Vive with 1 click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IMPACT &amp; COST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Multi-Crore Savings for Armed Forces with Unprecedented Repetition Scaling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REDUCTION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Live-Fire Drills ($50K/exercise → $0 consumable cost)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6432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47872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FREQUENCY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47872" y="2560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Troops scale from 2 live drills/yr to 20+ weekly simulations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FPS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72784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PERFORMANCE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72784" y="2560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Instanced foliage &amp; PBR shaders on standard Intel/AMD GPUs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06256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7696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97696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AIR-GAPPED READY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97696" y="2560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internet dependencies, compliant with military security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749040"/>
            <a:ext cx="10698480" cy="2377440"/>
          </a:xfrm>
          <a:prstGeom prst="roundRect">
            <a:avLst>
              <a:gd name="adj" fmla="val 5769"/>
            </a:avLst>
          </a:prstGeom>
          <a:solidFill>
            <a:srgbClr val="0B152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31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BENEFITS FOR MINISTRY OF DEFENCE &amp; DSSC WELLINGTON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3434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Unit-Level Deployment: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battalions deployed at LAC, LOC, and coastal installations can train daily inside forward bunkers without shipping soldiers to central academies.
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Elimination of Safety Hazards: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risk of ricochets, unexploded kinetic shrapnel ordnance, or stray laser eye hazards during high-stress novice instruction.
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Objective Doctrinal Standard: 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subjective instructor bias through algorithmic 1000-point DSSC decision-tree metrics benchmarked against Tri-Services C-UAS doctrine.
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 &amp; TRI-SERVICES VISION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Full-Scale Defence Induction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291840" cy="4663440"/>
          </a:xfrm>
          <a:prstGeom prst="roundRect">
            <a:avLst>
              <a:gd name="adj" fmla="val 4167"/>
            </a:avLst>
          </a:prstGeom>
          <a:solidFill>
            <a:srgbClr val="131E3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CURRENT STATUS (SIH 2026)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React 18 + Three.js simulator engine
✓ Photorealistic PBR terrain &amp; instanced foliage
✓ Autonomous Red-Team NOE and Swarm AI
✓ Multi-Spectral sensor suite (Radar, RF, EO/IR, Acoustic)
✓ Standalone offline Electron .exe package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291840" cy="4663440"/>
          </a:xfrm>
          <a:prstGeom prst="roundRect">
            <a:avLst>
              <a:gd name="adj" fmla="val 4167"/>
            </a:avLst>
          </a:prstGeom>
          <a:solidFill>
            <a:srgbClr val="131E3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45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3-6 MONTHS (FIELD TRIALS)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pilot trials at DSSC Wellington &amp; Army Air Defence College
✓ Hardware-in-the-Loop (HIL) integration with physical C-UAS gunner joystick turrets
✓ Multi-player squad tactical defense mode (multi-operator C4I coordination)
✓ Air-Gapped LLM local inference on quantized GGUF models
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291840" cy="4663440"/>
          </a:xfrm>
          <a:prstGeom prst="roundRect">
            <a:avLst>
              <a:gd name="adj" fmla="val 4167"/>
            </a:avLst>
          </a:prstGeom>
          <a:solidFill>
            <a:srgbClr val="131E35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45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12 MONTHS (TRI-SERVICES INDUCTION)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Procurement integration across Indian Army, Air Force, and Navy outposts
✓ Real-world radar telemetry ingestion for mission digital twins
✓ Classified MIL-STD-6016 / Link-16 tactical data link interoperability
✓ Central Army C4I readiness score dashboard
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OPERATIONAL READINESS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the Armed Forces to Dominate the Drone-Contested Battlespace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0976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0" y="594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DEFENCE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SIMULATION PLATFORM | SMART INDIA HACKATHON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463040"/>
            <a:ext cx="9445752" cy="3840480"/>
          </a:xfrm>
          <a:prstGeom prst="roundRect">
            <a:avLst>
              <a:gd name="adj" fmla="val 4762"/>
            </a:avLst>
          </a:prstGeom>
          <a:solidFill>
            <a:srgbClr val="131E35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73736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FOR LIVE DEMONSTRATION &amp; INDUCTION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2194560"/>
            <a:ext cx="853135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ASTRA-CUAS addresses every critical criterion defined by the Ministry of Defence: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Minimal Specialized Hardware: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sensors or supercomputers needed; operational on standard issue field laptops.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Randomized &amp; Procedural Threats: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rote learning with autonomous Red-Team AI mimicking real enemy tactics.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Objective Decision-Tree Scoring: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individual and battalion operational readiness over repeated sessions.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100% Offline Air-Gapped Security: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Safeguards sensitive military tactics, operational protocols, and scoring telemetry on-premise.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5486400"/>
            <a:ext cx="5788152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5650992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| OPEN FOR DIRECTING STAFF QUESTIONS &amp; LIVE DEMO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Ministry of Defence | Defence Services Staff College (DSSC)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ASTRA-CUAS: AI-Enabled Drone &amp; Counter-Drone Threat Simulation Trainer</dc:title>
  <dc:subject>Smart India Hackathon 2026 - Problem Statement 26247</dc:subject>
  <dc:creator>Team ASTRA - SIH 2026</dc:creator>
  <cp:lastModifiedBy>Team ASTRA - SIH 2026</cp:lastModifiedBy>
  <cp:revision>1</cp:revision>
  <dcterms:created xsi:type="dcterms:W3CDTF">2026-10-02T19:53:59Z</dcterms:created>
  <dcterms:modified xsi:type="dcterms:W3CDTF">2026-10-02T19:53:59Z</dcterms:modified>
</cp:coreProperties>
</file>